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7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D17005-E2AD-5115-0C14-EF3B7B625C9A}" v="745" dt="2026-05-03T23:59:47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ED995-0549-483B-941F-7413807EF24D}" type="datetimeFigureOut">
              <a:t>04/05/2026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C4B9E-8195-408A-ACC2-C169F8F7FF45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33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8.png"/><Relationship Id="rId4" Type="http://schemas.microsoft.com/office/2007/relationships/hdphoto" Target="../media/hdphoto5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6B6D4"/>
                </a:solidFill>
              </a:rPr>
              <a:t>POSTECH · AI SCIENTIST · FASE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45720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1A2540"/>
                </a:solidFill>
              </a:rPr>
              <a:t>NPS</a:t>
            </a:r>
            <a:endParaRPr lang="en-US" sz="16000" dirty="0"/>
          </a:p>
        </p:txBody>
      </p:sp>
      <p:sp>
        <p:nvSpPr>
          <p:cNvPr id="21" name="Text 19"/>
          <p:cNvSpPr/>
          <p:nvPr/>
        </p:nvSpPr>
        <p:spPr>
          <a:xfrm>
            <a:off x="365760" y="1005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8FAFC"/>
                </a:solidFill>
              </a:rPr>
              <a:t>NPS PREDITIVO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365760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</a:rPr>
              <a:t>PARA E-COMMERCE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65760" y="2743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</a:rPr>
              <a:t>Transformando dados operacionais em ação preventiva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3291840"/>
            <a:ext cx="50292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Jade Ferreira  |  RM 373208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</a:rPr>
              <a:t>2.500 pedidos  ·  </a:t>
            </a:r>
            <a:endParaRPr lang="en-US" sz="110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0480" y="5143500"/>
            <a:ext cx="91440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O PROBLEMA DE NEGÓCIO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Por que precisamos prever o NPS antes que seja tarde?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28600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PEDIDO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REALIZADO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Dados disponíveis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234440"/>
            <a:ext cx="228600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371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JORNADA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ACONTECE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Entrega · SAC · Problemas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234440"/>
            <a:ext cx="228600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1371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PESQUISA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NPS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0" y="2194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Já é tarde para agir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1965960"/>
            <a:ext cx="5029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965960"/>
            <a:ext cx="5029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1A0A2E"/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411480" cy="4114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887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INSIGHT-CHAVE: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88720" y="32461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O NPS é coletado APÓS a jornada completa. A empresa não consegue agir preventivamente. Nossa missão: usar dados operacionais para prever a insatisfação ANTES que ela aconteça.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0" y="3931920"/>
            <a:ext cx="2468880" cy="960120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NPS ATUAL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92240" y="4251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</a:rPr>
              <a:t>-66%</a:t>
            </a:r>
            <a:endParaRPr lang="en-US" sz="3400" dirty="0"/>
          </a:p>
        </p:txBody>
      </p:sp>
      <p:sp>
        <p:nvSpPr>
          <p:cNvPr id="23" name="Shape 20"/>
          <p:cNvSpPr/>
          <p:nvPr/>
        </p:nvSpPr>
        <p:spPr>
          <a:xfrm>
            <a:off x="457200" y="3931920"/>
            <a:ext cx="2468880" cy="96012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DETRATORES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4251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74%</a:t>
            </a:r>
            <a:endParaRPr lang="en-US" sz="3400" dirty="0"/>
          </a:p>
        </p:txBody>
      </p:sp>
      <p:sp>
        <p:nvSpPr>
          <p:cNvPr id="26" name="Shape 23"/>
          <p:cNvSpPr/>
          <p:nvPr/>
        </p:nvSpPr>
        <p:spPr>
          <a:xfrm>
            <a:off x="3246120" y="3931920"/>
            <a:ext cx="2834640" cy="96012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37560" y="4005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BENCHMARK SETOR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33756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+40 a +60%</a:t>
            </a:r>
            <a:endParaRPr lang="en-US" sz="2600" dirty="0"/>
          </a:p>
        </p:txBody>
      </p:sp>
      <p:sp>
        <p:nvSpPr>
          <p:cNvPr id="29" name="Shape 26"/>
          <p:cNvSpPr/>
          <p:nvPr/>
        </p:nvSpPr>
        <p:spPr>
          <a:xfrm>
            <a:off x="0" y="5140712"/>
            <a:ext cx="91440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NPS: A MÉTRICA QUE MOVE O NEGÓCIO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20040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DETRATORES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0–6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11880" y="822960"/>
            <a:ext cx="18288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822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NEUTROS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7–8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2497" y="822960"/>
            <a:ext cx="18288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2497" y="822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PROMOTORES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</a:rPr>
              <a:t>9–10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2645" y="868680"/>
            <a:ext cx="18151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2"/>
                </a:solidFill>
              </a:rPr>
              <a:t>NPS = % </a:t>
            </a:r>
            <a:r>
              <a:rPr lang="en-US" sz="1300" b="1" dirty="0" err="1">
                <a:solidFill>
                  <a:schemeClr val="bg2"/>
                </a:solidFill>
              </a:rPr>
              <a:t>Promotores</a:t>
            </a:r>
            <a:r>
              <a:rPr lang="en-US" sz="1300" b="1" dirty="0">
                <a:solidFill>
                  <a:schemeClr val="bg2"/>
                </a:solidFill>
              </a:rPr>
              <a:t>  −  % </a:t>
            </a:r>
            <a:r>
              <a:rPr lang="en-US" sz="1300" b="1" dirty="0" err="1">
                <a:solidFill>
                  <a:schemeClr val="bg2"/>
                </a:solidFill>
              </a:rPr>
              <a:t>Detratores</a:t>
            </a:r>
            <a:endParaRPr lang="en-US" sz="1300">
              <a:solidFill>
                <a:schemeClr val="bg2"/>
              </a:solidFill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40233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90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920" y="173736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RECOMPRA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92608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0B981"/>
                </a:solidFill>
              </a:rPr>
              <a:t>5×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50292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Mais </a:t>
            </a:r>
            <a:r>
              <a:rPr lang="en-US" sz="1100" dirty="0" err="1">
                <a:solidFill>
                  <a:srgbClr val="94A3B8"/>
                </a:solidFill>
              </a:rPr>
              <a:t>probabilidade</a:t>
            </a:r>
            <a:r>
              <a:rPr lang="en-US" sz="1100" dirty="0">
                <a:solidFill>
                  <a:srgbClr val="94A3B8"/>
                </a:solidFill>
              </a:rPr>
              <a:t> de </a:t>
            </a:r>
            <a:r>
              <a:rPr lang="en-US" sz="1100" dirty="0" err="1">
                <a:solidFill>
                  <a:srgbClr val="94A3B8"/>
                </a:solidFill>
              </a:rPr>
              <a:t>comprar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en-US" sz="1100" dirty="0" err="1">
                <a:solidFill>
                  <a:srgbClr val="94A3B8"/>
                </a:solidFill>
              </a:rPr>
              <a:t>novamente</a:t>
            </a:r>
            <a:r>
              <a:rPr lang="en-US" sz="1100" dirty="0">
                <a:solidFill>
                  <a:srgbClr val="94A3B8"/>
                </a:solidFill>
              </a:rPr>
              <a:t> (</a:t>
            </a:r>
            <a:r>
              <a:rPr lang="en-US" sz="1100" dirty="0" err="1">
                <a:solidFill>
                  <a:srgbClr val="94A3B8"/>
                </a:solidFill>
              </a:rPr>
              <a:t>promotores</a:t>
            </a:r>
            <a:r>
              <a:rPr lang="en-US" sz="1100" dirty="0">
                <a:solidFill>
                  <a:srgbClr val="94A3B8"/>
                </a:solidFill>
              </a:rPr>
              <a:t> vs </a:t>
            </a:r>
            <a:r>
              <a:rPr lang="en-US" sz="1100" dirty="0" err="1">
                <a:solidFill>
                  <a:srgbClr val="94A3B8"/>
                </a:solidFill>
              </a:rPr>
              <a:t>detratores</a:t>
            </a:r>
            <a:r>
              <a:rPr lang="en-US" sz="1100" dirty="0">
                <a:solidFill>
                  <a:srgbClr val="94A3B8"/>
                </a:solidFill>
              </a:rPr>
              <a:t>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1600200"/>
            <a:ext cx="40233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  <a14:imgEffect>
                      <a14:brightnessContrast bright="100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0600" y="173736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</a:rPr>
              <a:t>BOCA A BOCA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22376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563EB"/>
                </a:solidFill>
              </a:rPr>
              <a:t>3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480060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94A3B8"/>
                </a:solidFill>
              </a:rPr>
              <a:t>Novos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en-US" sz="1100" dirty="0" err="1">
                <a:solidFill>
                  <a:srgbClr val="94A3B8"/>
                </a:solidFill>
              </a:rPr>
              <a:t>clientes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en-US" sz="1100" dirty="0" err="1">
                <a:solidFill>
                  <a:srgbClr val="94A3B8"/>
                </a:solidFill>
              </a:rPr>
              <a:t>indicados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en-US" sz="1100" dirty="0" err="1">
                <a:solidFill>
                  <a:srgbClr val="94A3B8"/>
                </a:solidFill>
              </a:rPr>
              <a:t>por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en-US" sz="1100" dirty="0" err="1">
                <a:solidFill>
                  <a:srgbClr val="94A3B8"/>
                </a:solidFill>
              </a:rPr>
              <a:t>cada</a:t>
            </a:r>
            <a:r>
              <a:rPr lang="en-US" sz="1100" dirty="0">
                <a:solidFill>
                  <a:srgbClr val="94A3B8"/>
                </a:solidFill>
              </a:rPr>
              <a:t> promotor. Um </a:t>
            </a:r>
            <a:r>
              <a:rPr lang="en-US" sz="1100" dirty="0" err="1">
                <a:solidFill>
                  <a:srgbClr val="94A3B8"/>
                </a:solidFill>
              </a:rPr>
              <a:t>detrator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en-US" sz="1100" dirty="0" err="1">
                <a:solidFill>
                  <a:srgbClr val="94A3B8"/>
                </a:solidFill>
              </a:rPr>
              <a:t>afasta</a:t>
            </a:r>
            <a:r>
              <a:rPr lang="en-US" sz="1100" dirty="0">
                <a:solidFill>
                  <a:srgbClr val="94A3B8"/>
                </a:solidFill>
              </a:rPr>
              <a:t> 5.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65760" y="2971800"/>
            <a:ext cx="40233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-100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920" y="310896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058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RISCO ATUAL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926080" y="30175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EF4444"/>
                </a:solidFill>
              </a:rPr>
              <a:t>-66%</a:t>
            </a:r>
            <a:endParaRPr lang="en-US" sz="3200" dirty="0"/>
          </a:p>
        </p:txBody>
      </p:sp>
      <p:sp>
        <p:nvSpPr>
          <p:cNvPr id="25" name="Text 20"/>
          <p:cNvSpPr/>
          <p:nvPr/>
        </p:nvSpPr>
        <p:spPr>
          <a:xfrm>
            <a:off x="502920" y="3566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NPS da empresa. 74% de detratores gerando propaganda negativa ativa.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663440" y="2971800"/>
            <a:ext cx="40233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00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0600" y="310896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035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MARKET SHARE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223760" y="30175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7C3AED"/>
                </a:solidFill>
              </a:rPr>
              <a:t>2×</a:t>
            </a:r>
            <a:endParaRPr lang="en-US" sz="3200" dirty="0"/>
          </a:p>
        </p:txBody>
      </p:sp>
      <p:sp>
        <p:nvSpPr>
          <p:cNvPr id="30" name="Text 24"/>
          <p:cNvSpPr/>
          <p:nvPr/>
        </p:nvSpPr>
        <p:spPr>
          <a:xfrm>
            <a:off x="4800600" y="3566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Empresas com NPS alto crescem 2× mais rápido que concorrentes.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65760" y="4297680"/>
            <a:ext cx="8314907" cy="594360"/>
          </a:xfrm>
          <a:prstGeom prst="rect">
            <a:avLst/>
          </a:prstGeom>
          <a:solidFill>
            <a:srgbClr val="0A1A3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 Dado da </a:t>
            </a:r>
            <a:r>
              <a:rPr lang="en-US" sz="1200" err="1">
                <a:solidFill>
                  <a:srgbClr val="F8FAFC"/>
                </a:solidFill>
              </a:rPr>
              <a:t>análise</a:t>
            </a:r>
            <a:r>
              <a:rPr lang="en-US" sz="1200" dirty="0">
                <a:solidFill>
                  <a:srgbClr val="F8FAFC"/>
                </a:solidFill>
              </a:rPr>
              <a:t>: </a:t>
            </a:r>
            <a:r>
              <a:rPr lang="en-US" sz="1200" err="1">
                <a:solidFill>
                  <a:srgbClr val="F8FAFC"/>
                </a:solidFill>
              </a:rPr>
              <a:t>correlação</a:t>
            </a:r>
            <a:r>
              <a:rPr lang="en-US" sz="1200" dirty="0">
                <a:solidFill>
                  <a:srgbClr val="F8FAFC"/>
                </a:solidFill>
              </a:rPr>
              <a:t> entre </a:t>
            </a:r>
            <a:r>
              <a:rPr lang="en-US" sz="1200" err="1">
                <a:solidFill>
                  <a:srgbClr val="F8FAFC"/>
                </a:solidFill>
              </a:rPr>
              <a:t>satisfação</a:t>
            </a:r>
            <a:r>
              <a:rPr lang="en-US" sz="1200" dirty="0">
                <a:solidFill>
                  <a:srgbClr val="F8FAFC"/>
                </a:solidFill>
              </a:rPr>
              <a:t> (NPS) e </a:t>
            </a:r>
            <a:r>
              <a:rPr lang="en-US" sz="1200" err="1">
                <a:solidFill>
                  <a:srgbClr val="F8FAFC"/>
                </a:solidFill>
              </a:rPr>
              <a:t>recompra</a:t>
            </a:r>
            <a:r>
              <a:rPr lang="en-US" sz="1200" dirty="0">
                <a:solidFill>
                  <a:srgbClr val="F8FAFC"/>
                </a:solidFill>
              </a:rPr>
              <a:t> </a:t>
            </a:r>
            <a:r>
              <a:rPr lang="en-US" sz="1200" err="1">
                <a:solidFill>
                  <a:srgbClr val="F8FAFC"/>
                </a:solidFill>
              </a:rPr>
              <a:t>em</a:t>
            </a:r>
            <a:r>
              <a:rPr lang="en-US" sz="1200" dirty="0">
                <a:solidFill>
                  <a:srgbClr val="F8FAFC"/>
                </a:solidFill>
              </a:rPr>
              <a:t> 30 </a:t>
            </a:r>
            <a:r>
              <a:rPr lang="en-US" sz="1200" err="1">
                <a:solidFill>
                  <a:srgbClr val="F8FAFC"/>
                </a:solidFill>
              </a:rPr>
              <a:t>dias</a:t>
            </a:r>
            <a:r>
              <a:rPr lang="en-US" sz="1200" dirty="0">
                <a:solidFill>
                  <a:srgbClr val="F8FAFC"/>
                </a:solidFill>
              </a:rPr>
              <a:t> =  +0.570  — </a:t>
            </a:r>
            <a:r>
              <a:rPr lang="en-US" sz="1200" err="1">
                <a:solidFill>
                  <a:srgbClr val="F8FAFC"/>
                </a:solidFill>
              </a:rPr>
              <a:t>fortíssima</a:t>
            </a:r>
            <a:r>
              <a:rPr lang="en-US" sz="1200" dirty="0">
                <a:solidFill>
                  <a:srgbClr val="F8FAFC"/>
                </a:solidFill>
              </a:rPr>
              <a:t> </a:t>
            </a:r>
            <a:r>
              <a:rPr lang="en-US" sz="1200" err="1">
                <a:solidFill>
                  <a:srgbClr val="F8FAFC"/>
                </a:solidFill>
              </a:rPr>
              <a:t>ligação</a:t>
            </a:r>
            <a:r>
              <a:rPr lang="en-US" sz="1200" dirty="0">
                <a:solidFill>
                  <a:srgbClr val="F8FAFC"/>
                </a:solidFill>
              </a:rPr>
              <a:t> entre </a:t>
            </a:r>
            <a:r>
              <a:rPr lang="en-US" sz="1200" err="1">
                <a:solidFill>
                  <a:srgbClr val="F8FAFC"/>
                </a:solidFill>
              </a:rPr>
              <a:t>experiência</a:t>
            </a:r>
            <a:r>
              <a:rPr lang="en-US" sz="1200" dirty="0">
                <a:solidFill>
                  <a:srgbClr val="F8FAFC"/>
                </a:solidFill>
              </a:rPr>
              <a:t> e </a:t>
            </a:r>
            <a:r>
              <a:rPr lang="en-US" sz="1200" err="1">
                <a:solidFill>
                  <a:srgbClr val="F8FAFC"/>
                </a:solidFill>
              </a:rPr>
              <a:t>retenção</a:t>
            </a:r>
            <a:endParaRPr lang="en-US" sz="1200" err="1"/>
          </a:p>
        </p:txBody>
      </p:sp>
      <p:sp>
        <p:nvSpPr>
          <p:cNvPr id="33" name="Shape 27"/>
          <p:cNvSpPr/>
          <p:nvPr/>
        </p:nvSpPr>
        <p:spPr>
          <a:xfrm>
            <a:off x="0" y="5140712"/>
            <a:ext cx="914400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EDA — RETRATO DA SATISFAÇÃO DOS CLIENTES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Como os clientes se distribuem entre Detratores, Neutros e Promotores?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685800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507492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DETRATORES (0–6)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1051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</a:rPr>
              <a:t>74%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685800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74520"/>
            <a:ext cx="12344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NEUTROS (7–8)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1874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18%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685800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97480"/>
            <a:ext cx="54864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97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PROMOTORES (9–10)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</a:rPr>
              <a:t>8%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8412480" cy="1005840"/>
          </a:xfrm>
          <a:prstGeom prst="rect">
            <a:avLst/>
          </a:prstGeom>
          <a:solidFill>
            <a:srgbClr val="1A0505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NPS DA EMPRESA: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8% − 74%  =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9184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F4444"/>
                </a:solidFill>
              </a:rPr>
              <a:t>-66%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530352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</a:rPr>
              <a:t>106 </a:t>
            </a:r>
            <a:r>
              <a:rPr lang="en-US" sz="1100" dirty="0" err="1">
                <a:solidFill>
                  <a:srgbClr val="F59E0B"/>
                </a:solidFill>
              </a:rPr>
              <a:t>pontos</a:t>
            </a:r>
            <a:r>
              <a:rPr lang="en-US" sz="1100" dirty="0">
                <a:solidFill>
                  <a:srgbClr val="F59E0B"/>
                </a:solidFill>
              </a:rPr>
              <a:t> ABAIXO do benchmark </a:t>
            </a:r>
            <a:r>
              <a:rPr lang="en-US" sz="1100" dirty="0" err="1">
                <a:solidFill>
                  <a:srgbClr val="F59E0B"/>
                </a:solidFill>
              </a:rPr>
              <a:t>mínimo</a:t>
            </a:r>
            <a:r>
              <a:rPr lang="en-US" sz="1100" dirty="0">
                <a:solidFill>
                  <a:srgbClr val="F59E0B"/>
                </a:solidFill>
              </a:rPr>
              <a:t> do </a:t>
            </a:r>
            <a:r>
              <a:rPr lang="en-US" sz="1100" dirty="0" err="1">
                <a:solidFill>
                  <a:srgbClr val="F59E0B"/>
                </a:solidFill>
              </a:rPr>
              <a:t>setor</a:t>
            </a:r>
            <a:r>
              <a:rPr lang="en-US" sz="1100" dirty="0">
                <a:solidFill>
                  <a:srgbClr val="F59E0B"/>
                </a:solidFill>
              </a:rPr>
              <a:t> (+40%)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265176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80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2.500 pedidos analisados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4480560"/>
            <a:ext cx="265176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4480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0 nulos · 0 duplicados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4480560"/>
            <a:ext cx="265176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4480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19 variáveis · dataset limpo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140712"/>
            <a:ext cx="914400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7692"/>
            <a:ext cx="5044533" cy="464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O QUE MAIS IMPACTA O NPS?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71415"/>
            <a:ext cx="4528790" cy="3161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i="1" dirty="0">
                <a:solidFill>
                  <a:srgbClr val="94A3B8"/>
                </a:solidFill>
                <a:ea typeface="+mn-lt"/>
                <a:cs typeface="+mn-lt"/>
              </a:rPr>
              <a:t>O </a:t>
            </a:r>
            <a:r>
              <a:rPr lang="en-US" sz="1300" i="1" dirty="0" err="1">
                <a:solidFill>
                  <a:srgbClr val="94A3B8"/>
                </a:solidFill>
                <a:ea typeface="+mn-lt"/>
                <a:cs typeface="+mn-lt"/>
              </a:rPr>
              <a:t>que</a:t>
            </a:r>
            <a:r>
              <a:rPr lang="en-US" sz="1300" i="1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300" i="1" dirty="0" err="1">
                <a:solidFill>
                  <a:srgbClr val="94A3B8"/>
                </a:solidFill>
                <a:ea typeface="+mn-lt"/>
                <a:cs typeface="+mn-lt"/>
              </a:rPr>
              <a:t>mais</a:t>
            </a:r>
            <a:r>
              <a:rPr lang="en-US" sz="1300" i="1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300" i="1" dirty="0" err="1">
                <a:solidFill>
                  <a:srgbClr val="94A3B8"/>
                </a:solidFill>
                <a:ea typeface="+mn-lt"/>
                <a:cs typeface="+mn-lt"/>
              </a:rPr>
              <a:t>impacta</a:t>
            </a:r>
            <a:r>
              <a:rPr lang="en-US" sz="1300" i="1" dirty="0">
                <a:solidFill>
                  <a:srgbClr val="94A3B8"/>
                </a:solidFill>
                <a:ea typeface="+mn-lt"/>
                <a:cs typeface="+mn-lt"/>
              </a:rPr>
              <a:t> a </a:t>
            </a:r>
            <a:r>
              <a:rPr lang="en-US" sz="1300" i="1" dirty="0" err="1">
                <a:solidFill>
                  <a:srgbClr val="94A3B8"/>
                </a:solidFill>
                <a:ea typeface="+mn-lt"/>
                <a:cs typeface="+mn-lt"/>
              </a:rPr>
              <a:t>experiência</a:t>
            </a:r>
            <a:r>
              <a:rPr lang="en-US" sz="1300" i="1" dirty="0">
                <a:solidFill>
                  <a:srgbClr val="94A3B8"/>
                </a:solidFill>
                <a:ea typeface="+mn-lt"/>
                <a:cs typeface="+mn-lt"/>
              </a:rPr>
              <a:t> -</a:t>
            </a:r>
            <a:r>
              <a:rPr lang="en-US" sz="1300" i="1" dirty="0" err="1">
                <a:solidFill>
                  <a:srgbClr val="94A3B8"/>
                </a:solidFill>
                <a:ea typeface="+mn-lt"/>
                <a:cs typeface="+mn-lt"/>
              </a:rPr>
              <a:t>por</a:t>
            </a:r>
            <a:r>
              <a:rPr lang="en-US" sz="1300" i="1" dirty="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300" i="1" dirty="0" err="1">
                <a:solidFill>
                  <a:srgbClr val="94A3B8"/>
                </a:solidFill>
                <a:ea typeface="+mn-lt"/>
                <a:cs typeface="+mn-lt"/>
              </a:rPr>
              <a:t>ordem</a:t>
            </a:r>
            <a:r>
              <a:rPr lang="en-US" sz="1300" i="1" dirty="0">
                <a:solidFill>
                  <a:srgbClr val="94A3B8"/>
                </a:solidFill>
                <a:ea typeface="+mn-lt"/>
                <a:cs typeface="+mn-lt"/>
              </a:rPr>
              <a:t> de </a:t>
            </a:r>
            <a:r>
              <a:rPr lang="en-US" sz="1300" i="1" dirty="0" err="1">
                <a:solidFill>
                  <a:srgbClr val="94A3B8"/>
                </a:solidFill>
                <a:ea typeface="+mn-lt"/>
                <a:cs typeface="+mn-lt"/>
              </a:rPr>
              <a:t>força</a:t>
            </a:r>
            <a:endParaRPr lang="en-US" sz="1300" i="1" dirty="0" err="1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56628" y="1097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Atraso na Entrega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54933" y="1143000"/>
            <a:ext cx="1910639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6628" y="1664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Nº de Reclamações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4973" y="1709928"/>
            <a:ext cx="1590599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6628" y="22311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Contatos com SAC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5791" y="2276856"/>
            <a:ext cx="1449781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6628" y="279806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Tempo de Resolução (dias)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07815" y="2843784"/>
            <a:ext cx="1257757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6628" y="33649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Recompra em 30 dias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65572" y="3410712"/>
            <a:ext cx="182422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6628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Score CSAT Interno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65572" y="3977640"/>
            <a:ext cx="199705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65572" y="1051560"/>
            <a:ext cx="0" cy="34747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2532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←  NEGATIVO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57012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POSITIVO  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35499" y="1251633"/>
            <a:ext cx="1795626" cy="1555317"/>
          </a:xfrm>
          <a:prstGeom prst="rect">
            <a:avLst/>
          </a:prstGeom>
          <a:solidFill>
            <a:srgbClr val="161B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47848" y="1283415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FORÇA DA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CORRELAÇÃO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47848" y="1740615"/>
            <a:ext cx="19202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EF4444"/>
                </a:solidFill>
              </a:rPr>
              <a:t>0.5  →  FORTE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5847848" y="2088087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0.3–0.5  →  Moderada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47848" y="2435559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&lt; 0.3  →  Fraca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5140712"/>
            <a:ext cx="91440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8FAFC"/>
                </a:solidFill>
              </a:rPr>
              <a:t>PONTO DE RUPTURA: O ATRASO QUE DESTRÓI O NPS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Em qual momento exato o atraso na entrega vira um ponto sem retorno?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5156" y="1051560"/>
            <a:ext cx="2011680" cy="2103120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  <a:prstDash val="solid"/>
          </a:ln>
          <a:effectLst>
            <a:outerShdw blurRad="1270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6596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SEM ATRASO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0 dias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6596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NPS médio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6596" y="20299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</a:rPr>
              <a:t>6.86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6596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</a:rPr>
              <a:t>% Detratores: 36%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77522" y="1051560"/>
            <a:ext cx="2011680" cy="2103120"/>
          </a:xfrm>
          <a:prstGeom prst="rect">
            <a:avLst/>
          </a:prstGeom>
          <a:solidFill>
            <a:srgbClr val="161B22"/>
          </a:solidFill>
          <a:ln w="254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8962" y="1097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LEVE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1–2 dias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8962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NPS médio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8962" y="20299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5.05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68962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</a:rPr>
              <a:t>% Detratores: 68%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79888" y="1051560"/>
            <a:ext cx="2011680" cy="2103120"/>
          </a:xfrm>
          <a:prstGeom prst="rect">
            <a:avLst/>
          </a:prstGeom>
          <a:solidFill>
            <a:srgbClr val="161B22"/>
          </a:solidFill>
          <a:ln w="25400">
            <a:solidFill>
              <a:srgbClr val="EF4444"/>
            </a:solidFill>
            <a:prstDash val="solid"/>
          </a:ln>
          <a:effectLst>
            <a:outerShdw blurRad="1270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1328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F4444"/>
                </a:solidFill>
              </a:rPr>
              <a:t>RUPTURA</a:t>
            </a:r>
            <a:endParaRPr lang="en-US" sz="120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3–4 </a:t>
            </a:r>
            <a:r>
              <a:rPr lang="en-US" sz="1200" b="1" dirty="0" err="1">
                <a:solidFill>
                  <a:srgbClr val="EF4444"/>
                </a:solidFill>
              </a:rPr>
              <a:t>dias</a:t>
            </a:r>
            <a:endParaRPr lang="en-US" sz="1200" dirty="0" err="1"/>
          </a:p>
        </p:txBody>
      </p:sp>
      <p:sp>
        <p:nvSpPr>
          <p:cNvPr id="17" name="Text 15"/>
          <p:cNvSpPr/>
          <p:nvPr/>
        </p:nvSpPr>
        <p:spPr>
          <a:xfrm>
            <a:off x="4771328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NPS médio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71328" y="20299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</a:rPr>
              <a:t>3.10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71328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</a:rPr>
              <a:t>% Detratores: 92%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89223" y="1051560"/>
            <a:ext cx="2011680" cy="2103120"/>
          </a:xfrm>
          <a:prstGeom prst="rect">
            <a:avLst/>
          </a:prstGeom>
          <a:solidFill>
            <a:srgbClr val="161B22"/>
          </a:solidFill>
          <a:ln w="25400">
            <a:solidFill>
              <a:srgbClr val="B91C1C"/>
            </a:solidFill>
            <a:prstDash val="solid"/>
          </a:ln>
          <a:effectLst>
            <a:outerShdw blurRad="127000" dist="254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80663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B91C1C"/>
                </a:solidFill>
              </a:rPr>
              <a:t>CRÍTICO</a:t>
            </a:r>
            <a:endParaRPr lang="en-US" sz="120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</a:rPr>
              <a:t>5–8 </a:t>
            </a:r>
            <a:r>
              <a:rPr lang="en-US" sz="1200" b="1" dirty="0" err="1">
                <a:solidFill>
                  <a:srgbClr val="B91C1C"/>
                </a:solidFill>
              </a:rPr>
              <a:t>dias</a:t>
            </a:r>
            <a:endParaRPr lang="en-US" sz="1200" dirty="0" err="1"/>
          </a:p>
        </p:txBody>
      </p:sp>
      <p:sp>
        <p:nvSpPr>
          <p:cNvPr id="22" name="Text 20"/>
          <p:cNvSpPr/>
          <p:nvPr/>
        </p:nvSpPr>
        <p:spPr>
          <a:xfrm>
            <a:off x="6980663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NPS médio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80663" y="20299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91C1C"/>
                </a:solidFill>
              </a:rPr>
              <a:t>1.28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80663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</a:rPr>
              <a:t>% Detratores: 99%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65760" y="3383280"/>
            <a:ext cx="8412480" cy="685800"/>
          </a:xfrm>
          <a:prstGeom prst="rect">
            <a:avLst/>
          </a:prstGeom>
          <a:solidFill>
            <a:srgbClr val="1A0000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0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05840" y="343814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COM 6+ DIAS DE ATRASO → 100% DOS CLIENTES VIRAM DETRATORES.  Não existe ação compensatória eficaz. A única estratégia é PREVENIR.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B6D4"/>
                </a:solidFill>
              </a:rPr>
              <a:t>EFEITO CASCATA:</a:t>
            </a:r>
            <a:endParaRPr lang="en-US" sz="1100"/>
          </a:p>
        </p:txBody>
      </p:sp>
      <p:sp>
        <p:nvSpPr>
          <p:cNvPr id="31" name="Text 28"/>
          <p:cNvSpPr/>
          <p:nvPr/>
        </p:nvSpPr>
        <p:spPr>
          <a:xfrm>
            <a:off x="548640" y="4462272"/>
            <a:ext cx="81381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F8FAFC"/>
                </a:solidFill>
              </a:rPr>
              <a:t>ATRASO  →  +</a:t>
            </a:r>
            <a:r>
              <a:rPr lang="en-US" sz="1200" dirty="0" err="1">
                <a:solidFill>
                  <a:srgbClr val="F8FAFC"/>
                </a:solidFill>
              </a:rPr>
              <a:t>Reclamações</a:t>
            </a:r>
            <a:r>
              <a:rPr lang="en-US" sz="1200" dirty="0">
                <a:solidFill>
                  <a:srgbClr val="F8FAFC"/>
                </a:solidFill>
              </a:rPr>
              <a:t>  →  +</a:t>
            </a:r>
            <a:r>
              <a:rPr lang="en-US" sz="1200" dirty="0" err="1">
                <a:solidFill>
                  <a:srgbClr val="F8FAFC"/>
                </a:solidFill>
              </a:rPr>
              <a:t>Contatos</a:t>
            </a:r>
            <a:r>
              <a:rPr lang="en-US" sz="1200" dirty="0">
                <a:solidFill>
                  <a:srgbClr val="F8FAFC"/>
                </a:solidFill>
              </a:rPr>
              <a:t> SAC  →  ↓ NPS 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0" y="5140712"/>
            <a:ext cx="914400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PERFIL DOS CLIENTES: BLINDADOS vs PERDIDOS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Comparação entre promotores (NPS ≥ 9) e detratores extremos (NPS ≤ 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05740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</a:rPr>
              <a:t>VARIÁVEL OPERACIONAL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2057400" cy="411480"/>
          </a:xfrm>
          <a:prstGeom prst="rect">
            <a:avLst/>
          </a:prstGeom>
          <a:solidFill>
            <a:srgbClr val="1A2E10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🟢  BLINDADO (NPS ≥ 9)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2057400" cy="411480"/>
          </a:xfrm>
          <a:prstGeom prst="rect">
            <a:avLst/>
          </a:prstGeom>
          <a:solidFill>
            <a:srgbClr val="2E1010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🔴  PERDIDO (NPS ≤ 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1051560"/>
            <a:ext cx="205740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</a:rPr>
              <a:t>DIFERENÇA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63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</a:rPr>
              <a:t>Atraso na Entrega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463040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0 </a:t>
            </a:r>
            <a:r>
              <a:rPr lang="en-US" sz="1100" b="1" dirty="0" err="1">
                <a:solidFill>
                  <a:srgbClr val="10B981"/>
                </a:solidFill>
              </a:rPr>
              <a:t>dias</a:t>
            </a:r>
            <a:endParaRPr lang="en-US" sz="1100" dirty="0" err="1"/>
          </a:p>
        </p:txBody>
      </p:sp>
      <p:sp>
        <p:nvSpPr>
          <p:cNvPr id="17" name="Shape 15"/>
          <p:cNvSpPr/>
          <p:nvPr/>
        </p:nvSpPr>
        <p:spPr>
          <a:xfrm>
            <a:off x="4572000" y="1463040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6 </a:t>
            </a:r>
            <a:r>
              <a:rPr lang="en-US" sz="1100" b="1" dirty="0" err="1">
                <a:solidFill>
                  <a:srgbClr val="EF4444"/>
                </a:solidFill>
              </a:rPr>
              <a:t>dias</a:t>
            </a:r>
            <a:endParaRPr lang="en-US" sz="1100" dirty="0" err="1"/>
          </a:p>
        </p:txBody>
      </p:sp>
      <p:sp>
        <p:nvSpPr>
          <p:cNvPr id="19" name="Shape 17"/>
          <p:cNvSpPr/>
          <p:nvPr/>
        </p:nvSpPr>
        <p:spPr>
          <a:xfrm>
            <a:off x="6675120" y="1463040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</a:rPr>
              <a:t>6 </a:t>
            </a:r>
            <a:r>
              <a:rPr lang="en-US" sz="1100" dirty="0" err="1">
                <a:solidFill>
                  <a:srgbClr val="F8FAFC"/>
                </a:solidFill>
              </a:rPr>
              <a:t>dias</a:t>
            </a:r>
            <a:r>
              <a:rPr lang="en-US" sz="1100" dirty="0">
                <a:solidFill>
                  <a:srgbClr val="F8FAFC"/>
                </a:solidFill>
              </a:rPr>
              <a:t> a </a:t>
            </a:r>
            <a:r>
              <a:rPr lang="en-US" sz="1100" dirty="0" err="1">
                <a:solidFill>
                  <a:srgbClr val="F8FAFC"/>
                </a:solidFill>
              </a:rPr>
              <a:t>mais</a:t>
            </a:r>
            <a:endParaRPr lang="en-US" sz="1100" dirty="0" err="1"/>
          </a:p>
        </p:txBody>
      </p:sp>
      <p:sp>
        <p:nvSpPr>
          <p:cNvPr id="21" name="Shape 19"/>
          <p:cNvSpPr/>
          <p:nvPr/>
        </p:nvSpPr>
        <p:spPr>
          <a:xfrm>
            <a:off x="365760" y="1938528"/>
            <a:ext cx="2057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385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</a:rPr>
              <a:t>Nº de Reclamações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1938528"/>
            <a:ext cx="2057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19385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0.0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1938528"/>
            <a:ext cx="2057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9385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4.1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1938528"/>
            <a:ext cx="2057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19385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</a:rPr>
              <a:t>4× mais reclamações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2414016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41401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</a:rPr>
              <a:t>Contatos com SAC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2414016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241401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0.0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2414016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41401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4.2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2414016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241401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</a:rPr>
              <a:t>4× mais contatos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2889504"/>
            <a:ext cx="2057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88950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</a:rPr>
              <a:t>Tempo de Resolução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2889504"/>
            <a:ext cx="2057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889504"/>
            <a:ext cx="1965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0 </a:t>
            </a:r>
            <a:r>
              <a:rPr lang="en-US" sz="1100" b="1" dirty="0" err="1">
                <a:solidFill>
                  <a:srgbClr val="10B981"/>
                </a:solidFill>
              </a:rPr>
              <a:t>dias</a:t>
            </a:r>
            <a:endParaRPr lang="en-US" sz="1100" dirty="0" err="1"/>
          </a:p>
        </p:txBody>
      </p:sp>
      <p:sp>
        <p:nvSpPr>
          <p:cNvPr id="41" name="Shape 39"/>
          <p:cNvSpPr/>
          <p:nvPr/>
        </p:nvSpPr>
        <p:spPr>
          <a:xfrm>
            <a:off x="4572000" y="2889504"/>
            <a:ext cx="2057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889504"/>
            <a:ext cx="1965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4 </a:t>
            </a:r>
            <a:r>
              <a:rPr lang="en-US" sz="1100" b="1" dirty="0" err="1">
                <a:solidFill>
                  <a:srgbClr val="EF4444"/>
                </a:solidFill>
              </a:rPr>
              <a:t>dias</a:t>
            </a:r>
            <a:endParaRPr lang="en-US" sz="1100" dirty="0" err="1"/>
          </a:p>
        </p:txBody>
      </p:sp>
      <p:sp>
        <p:nvSpPr>
          <p:cNvPr id="43" name="Shape 41"/>
          <p:cNvSpPr/>
          <p:nvPr/>
        </p:nvSpPr>
        <p:spPr>
          <a:xfrm>
            <a:off x="6675120" y="2889504"/>
            <a:ext cx="20574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88950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</a:rPr>
              <a:t>tempo elevado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3364992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364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</a:rPr>
              <a:t>Valor do Pedido (R$)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68880" y="3364992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3364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R$ 503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0" y="3364992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3364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R$ 510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75120" y="3364992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3364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</a:rPr>
              <a:t>praticamente igual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solidFill>
            <a:srgbClr val="0A1A0A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68" y="4116584"/>
            <a:ext cx="365760" cy="36576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1005840" y="395935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INSIGHT-CHAVE: O valor do pedido é praticamente igual entre os grupos. A diferença não está em QUANTO o cliente gasta, mas na QUALIDADE da operação. Não há "clientes bons e ruins" — há operações boas e ruins.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0" y="5140712"/>
            <a:ext cx="91440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RECOMENDAÇÕES ESTRATÉGICAS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O que a empresa deve fazer agora — baseado nos dados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24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9040" y="1143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43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ZERO TOLERÂNCIA AO ATRASO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49047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Área: Logística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176479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Meta SLA logístico ≥ 95% no prazo. Priorizar alerta automático ao atingir 2 dias de atraso — antes do ponto de ruptura (3 dias).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02336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1124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02</a:t>
            </a:r>
            <a:endParaRPr lang="en-US" sz="2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46720" y="11430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143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SAC PREDITIVO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03520" y="149047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Área: Atendimento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800600" y="176479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Identificar pedidos com atraso + reclamações e acionar proativamente. Evitar que o cliente precise ligar — FCR meta ≥ 70%.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567716" y="2589231"/>
            <a:ext cx="402336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2659156" y="2662383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</a:rPr>
              <a:t>03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50996" y="2680671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07796" y="2680671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DASHBOARD DE RISCO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207796" y="3028143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Área: Tech / Produto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2704876" y="3302463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</a:rPr>
              <a:t>Painel em tempo real com score de risco por pedido. Gestores visualizam quais pedidos têm maior probabilidade de gerar detratores.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1A12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486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 dirty="0">
                <a:solidFill>
                  <a:srgbClr val="F59E0B"/>
                </a:solidFill>
              </a:rPr>
              <a:t> LIMITAÇÕES E CUIDADOS: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dirty="0" err="1">
                <a:solidFill>
                  <a:srgbClr val="94A3B8"/>
                </a:solidFill>
              </a:rPr>
              <a:t>Os</a:t>
            </a:r>
            <a:r>
              <a:rPr lang="en-US" sz="1100" dirty="0">
                <a:solidFill>
                  <a:srgbClr val="94A3B8"/>
                </a:solidFill>
              </a:rPr>
              <a:t> dados </a:t>
            </a:r>
            <a:r>
              <a:rPr lang="en-US" sz="1100" dirty="0" err="1">
                <a:solidFill>
                  <a:srgbClr val="94A3B8"/>
                </a:solidFill>
              </a:rPr>
              <a:t>apontam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en-US" sz="1100" dirty="0" err="1">
                <a:solidFill>
                  <a:srgbClr val="94A3B8"/>
                </a:solidFill>
              </a:rPr>
              <a:t>direção</a:t>
            </a:r>
            <a:r>
              <a:rPr lang="en-US" sz="1100" dirty="0">
                <a:solidFill>
                  <a:srgbClr val="94A3B8"/>
                </a:solidFill>
              </a:rPr>
              <a:t>. Toda </a:t>
            </a:r>
            <a:r>
              <a:rPr lang="en-US" sz="1100" dirty="0" err="1">
                <a:solidFill>
                  <a:srgbClr val="94A3B8"/>
                </a:solidFill>
              </a:rPr>
              <a:t>mudança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en-US" sz="1100" dirty="0" err="1">
                <a:solidFill>
                  <a:srgbClr val="94A3B8"/>
                </a:solidFill>
              </a:rPr>
              <a:t>deve</a:t>
            </a:r>
            <a:r>
              <a:rPr lang="en-US" sz="1100" dirty="0">
                <a:solidFill>
                  <a:srgbClr val="94A3B8"/>
                </a:solidFill>
              </a:rPr>
              <a:t> ser </a:t>
            </a:r>
            <a:r>
              <a:rPr lang="en-US" sz="1100" dirty="0" err="1">
                <a:solidFill>
                  <a:srgbClr val="94A3B8"/>
                </a:solidFill>
              </a:rPr>
              <a:t>validada</a:t>
            </a:r>
            <a:r>
              <a:rPr lang="en-US" sz="1100" dirty="0">
                <a:solidFill>
                  <a:srgbClr val="94A3B8"/>
                </a:solidFill>
              </a:rPr>
              <a:t> antes de </a:t>
            </a:r>
            <a:r>
              <a:rPr lang="en-US" sz="1100" dirty="0" err="1">
                <a:solidFill>
                  <a:srgbClr val="94A3B8"/>
                </a:solidFill>
              </a:rPr>
              <a:t>escalar</a:t>
            </a:r>
            <a:r>
              <a:rPr lang="en-US" sz="1100" dirty="0">
                <a:solidFill>
                  <a:srgbClr val="94A3B8"/>
                </a:solidFill>
              </a:rPr>
              <a:t>.</a:t>
            </a:r>
            <a:endParaRPr lang="en-US" sz="1100" dirty="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27878" y="5140712"/>
            <a:ext cx="91440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0"/>
            <a:ext cx="0" cy="51435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0520">
              <a:alpha val="80000"/>
            </a:srgbClr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6B6D4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7772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</a:rPr>
              <a:t>OS DADOS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</a:rPr>
              <a:t>NÃO MENTEM.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</a:rPr>
              <a:t>MAS SÓ FAZEM DIFERENÇA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</a:rPr>
              <a:t>QUANDO ALGUÉM AGE.</a:t>
            </a:r>
            <a:endParaRPr lang="en-US" sz="2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676" y="1782072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715000" y="1671335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NPS atual de -66% está em zona crítica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212080" y="2313903"/>
            <a:ext cx="356616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464846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15000" y="2354109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Atraso de 3+ dias é o gatilho principal do problema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203676" y="2996677"/>
            <a:ext cx="356616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212080" y="3721473"/>
            <a:ext cx="3566160" cy="0"/>
          </a:xfrm>
          <a:prstGeom prst="line">
            <a:avLst/>
          </a:prstGeom>
          <a:noFill/>
          <a:ln w="6350">
            <a:solidFill>
              <a:srgbClr val="1F2937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15804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15000" y="3047305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Prevenir é 5x mais barato do que recuperar um detrator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65760" y="3337560"/>
            <a:ext cx="4389120" cy="1371600"/>
          </a:xfrm>
          <a:prstGeom prst="rect">
            <a:avLst/>
          </a:prstGeom>
          <a:solidFill>
            <a:srgbClr val="0D071F"/>
          </a:solidFill>
          <a:ln w="12700">
            <a:solidFill>
              <a:srgbClr val="7C3AED"/>
            </a:solidFill>
            <a:prstDash val="solid"/>
          </a:ln>
          <a:effectLst>
            <a:outerShdw blurRad="1905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457200" y="34015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8FAFC"/>
                </a:solidFill>
              </a:rPr>
              <a:t>PRÓXIMO PASSO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3767328"/>
            <a:ext cx="42062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300" dirty="0" err="1">
                <a:solidFill>
                  <a:srgbClr val="F8FAFC"/>
                </a:solidFill>
              </a:rPr>
              <a:t>Implementar</a:t>
            </a:r>
            <a:r>
              <a:rPr lang="en-US" sz="1300" dirty="0">
                <a:solidFill>
                  <a:srgbClr val="F8FAFC"/>
                </a:solidFill>
              </a:rPr>
              <a:t> </a:t>
            </a:r>
            <a:r>
              <a:rPr lang="en-US" sz="1300" dirty="0" err="1">
                <a:solidFill>
                  <a:srgbClr val="F8FAFC"/>
                </a:solidFill>
              </a:rPr>
              <a:t>sistema</a:t>
            </a:r>
            <a:r>
              <a:rPr lang="en-US" sz="1300" dirty="0">
                <a:solidFill>
                  <a:srgbClr val="F8FAFC"/>
                </a:solidFill>
              </a:rPr>
              <a:t> de </a:t>
            </a:r>
            <a:r>
              <a:rPr lang="en-US" sz="1300" dirty="0" err="1">
                <a:solidFill>
                  <a:srgbClr val="F8FAFC"/>
                </a:solidFill>
              </a:rPr>
              <a:t>alerta</a:t>
            </a:r>
            <a:r>
              <a:rPr lang="en-US" sz="1300" dirty="0">
                <a:solidFill>
                  <a:srgbClr val="F8FAFC"/>
                </a:solidFill>
              </a:rPr>
              <a:t> </a:t>
            </a:r>
            <a:r>
              <a:rPr lang="en-US" sz="1300" dirty="0" err="1">
                <a:solidFill>
                  <a:srgbClr val="F8FAFC"/>
                </a:solidFill>
              </a:rPr>
              <a:t>antecipado</a:t>
            </a:r>
            <a:r>
              <a:rPr lang="en-US" sz="1300" dirty="0">
                <a:solidFill>
                  <a:srgbClr val="F8FAFC"/>
                </a:solidFill>
              </a:rPr>
              <a:t> – </a:t>
            </a:r>
            <a:r>
              <a:rPr lang="en-US" sz="1300" dirty="0" err="1">
                <a:solidFill>
                  <a:srgbClr val="F8FAFC"/>
                </a:solidFill>
              </a:rPr>
              <a:t>identificar</a:t>
            </a:r>
            <a:r>
              <a:rPr lang="en-US" sz="1300" dirty="0">
                <a:solidFill>
                  <a:srgbClr val="F8FAFC"/>
                </a:solidFill>
              </a:rPr>
              <a:t> </a:t>
            </a:r>
            <a:r>
              <a:rPr lang="en-US" sz="1300" dirty="0" err="1">
                <a:solidFill>
                  <a:srgbClr val="F8FAFC"/>
                </a:solidFill>
              </a:rPr>
              <a:t>pedidos</a:t>
            </a:r>
            <a:r>
              <a:rPr lang="en-US" sz="1300" dirty="0">
                <a:solidFill>
                  <a:srgbClr val="F8FAFC"/>
                </a:solidFill>
              </a:rPr>
              <a:t> </a:t>
            </a:r>
            <a:r>
              <a:rPr lang="en-US" sz="1300" dirty="0" err="1">
                <a:solidFill>
                  <a:srgbClr val="F8FAFC"/>
                </a:solidFill>
              </a:rPr>
              <a:t>em</a:t>
            </a:r>
            <a:r>
              <a:rPr lang="en-US" sz="1300" dirty="0">
                <a:solidFill>
                  <a:srgbClr val="F8FAFC"/>
                </a:solidFill>
              </a:rPr>
              <a:t> </a:t>
            </a:r>
            <a:r>
              <a:rPr lang="en-US" sz="1300" dirty="0" err="1">
                <a:solidFill>
                  <a:srgbClr val="F8FAFC"/>
                </a:solidFill>
              </a:rPr>
              <a:t>risco</a:t>
            </a:r>
            <a:r>
              <a:rPr lang="en-US" sz="1300" dirty="0">
                <a:solidFill>
                  <a:srgbClr val="F8FAFC"/>
                </a:solidFill>
              </a:rPr>
              <a:t> antes da </a:t>
            </a:r>
            <a:r>
              <a:rPr lang="en-US" sz="1300" dirty="0" err="1">
                <a:solidFill>
                  <a:srgbClr val="F8FAFC"/>
                </a:solidFill>
              </a:rPr>
              <a:t>experiência</a:t>
            </a:r>
            <a:r>
              <a:rPr lang="en-US" sz="1300" dirty="0">
                <a:solidFill>
                  <a:srgbClr val="F8FAFC"/>
                </a:solidFill>
              </a:rPr>
              <a:t> </a:t>
            </a:r>
            <a:r>
              <a:rPr lang="en-US" sz="1300" dirty="0" err="1">
                <a:solidFill>
                  <a:srgbClr val="F8FAFC"/>
                </a:solidFill>
              </a:rPr>
              <a:t>terminar</a:t>
            </a:r>
            <a:r>
              <a:rPr lang="en-US" sz="1300" dirty="0">
                <a:solidFill>
                  <a:srgbClr val="F8FAFC"/>
                </a:solidFill>
              </a:rPr>
              <a:t>.</a:t>
            </a:r>
            <a:endParaRPr lang="en-US" sz="1300" dirty="0">
              <a:solidFill>
                <a:srgbClr val="F8FAFC"/>
              </a:solidFill>
              <a:ea typeface="Calibri"/>
              <a:cs typeface="Calibri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0" y="5140712"/>
            <a:ext cx="91440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48188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Jade Ferreira  ·  RM 373208  ·  Pós Tech FIAP AI Scientist  ·  Fase 1 Tech Challenge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NPS Preditivo — Tech Challenge Fase 1</dc:title>
  <dc:subject>PptxGenJS Presentation</dc:subject>
  <dc:creator>PptxGenJS</dc:creator>
  <cp:lastModifiedBy>PptxGenJS</cp:lastModifiedBy>
  <cp:revision>179</cp:revision>
  <dcterms:created xsi:type="dcterms:W3CDTF">2026-05-03T00:27:15Z</dcterms:created>
  <dcterms:modified xsi:type="dcterms:W3CDTF">2026-05-04T23:01:10Z</dcterms:modified>
</cp:coreProperties>
</file>